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xlsx" ContentType="application/vnd.openxmlformats-officedocument.spreadsheetml.sheet"/>
  <Override PartName="/ppt/drawings/drawing1.xml" ContentType="application/vnd.openxmlformats-officedocument.drawingml.chartshap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theme/themeOverride1.xml" ContentType="application/vnd.openxmlformats-officedocument.themeOverride+xml"/>
  <Override PartName="/ppt/drawings/drawing2.xml" ContentType="application/vnd.openxmlformats-officedocument.drawingml.chartshapes+xml"/>
  <Override PartName="/ppt/charts/chart2.xml" ContentType="application/vnd.openxmlformats-officedocument.drawingml.chart+xml"/>
  <Override PartName="/ppt/charts/colors2.xml" ContentType="application/vnd.ms-office.chartcolorstyle+xml"/>
  <Override PartName="/ppt/charts/style2.xml" ContentType="application/vnd.ms-office.chartstyle+xml"/>
  <Override PartName="/ppt/theme/themeOverride2.xml" ContentType="application/vnd.openxmlformats-officedocument.themeOverride+xml"/>
  <Override PartName="/ppt/drawings/drawing3.xml" ContentType="application/vnd.openxmlformats-officedocument.drawingml.chartshapes+xml"/>
  <Override PartName="/ppt/charts/chart3.xml" ContentType="application/vnd.openxmlformats-officedocument.drawingml.chart+xml"/>
  <Override PartName="/ppt/charts/colors3.xml" ContentType="application/vnd.ms-office.chartcolorstyle+xml"/>
  <Override PartName="/ppt/charts/style3.xml" ContentType="application/vnd.ms-office.chartstyle+xml"/>
  <Override PartName="/ppt/theme/themeOverride3.xml" ContentType="application/vnd.openxmlformats-officedocument.themeOverride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2.xml" ContentType="application/vnd.openxmlformats-officedocument.theme+xml"/>
  <Override PartName="/ppt/drawings/drawing4.xml" ContentType="application/vnd.openxmlformats-officedocument.drawingml.chartshapes+xml"/>
  <Override PartName="/ppt/charts/chart4.xml" ContentType="application/vnd.openxmlformats-officedocument.drawingml.chart+xml"/>
  <Override PartName="/ppt/charts/colors4.xml" ContentType="application/vnd.ms-office.chartcolorstyle+xml"/>
  <Override PartName="/ppt/charts/style4.xml" ContentType="application/vnd.ms-office.chartstyle+xml"/>
  <Override PartName="/ppt/theme/themeOverride4.xml" ContentType="application/vnd.openxmlformats-officedocument.themeOverride+xml"/>
  <Override PartName="/ppt/drawings/drawing5.xml" ContentType="application/vnd.openxmlformats-officedocument.drawingml.chartshapes+xml"/>
  <Override PartName="/ppt/charts/chart5.xml" ContentType="application/vnd.openxmlformats-officedocument.drawingml.chart+xml"/>
  <Override PartName="/ppt/charts/colors5.xml" ContentType="application/vnd.ms-office.chartcolorstyle+xml"/>
  <Override PartName="/ppt/charts/style5.xml" ContentType="application/vnd.ms-office.chartstyle+xml"/>
  <Override PartName="/ppt/theme/themeOverride5.xml" ContentType="application/vnd.openxmlformats-officedocument.themeOverride+xml"/>
  <Override PartName="/ppt/drawings/drawing6.xml" ContentType="application/vnd.openxmlformats-officedocument.drawingml.chartshapes+xml"/>
  <Override PartName="/ppt/charts/chart6.xml" ContentType="application/vnd.openxmlformats-officedocument.drawingml.chart+xml"/>
  <Override PartName="/ppt/charts/colors6.xml" ContentType="application/vnd.ms-office.chartcolorstyle+xml"/>
  <Override PartName="/ppt/charts/style6.xml" ContentType="application/vnd.ms-office.chartstyle+xml"/>
  <Override PartName="/ppt/theme/themeOverride6.xml" ContentType="application/vnd.openxmlformats-officedocument.themeOverr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r:id="rId19-created" id="2147483660"/>
  </p:sldMasterIdLst>
  <p:sldIdLst>
    <p:sldId r:id="rId7-created" id="2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-created" Type="http://schemas.openxmlformats.org/officeDocument/2006/relationships/slide" Target="slides/slide1.xml"/><Relationship Id="rId8-created" Type="http://schemas.openxmlformats.org/officeDocument/2006/relationships/slideLayout" Target="slideLayouts/slideLayout12.xml"/><Relationship Id="rId9-created" Type="http://schemas.openxmlformats.org/officeDocument/2006/relationships/slideLayout" Target="slideLayouts/slideLayout13.xml"/><Relationship Id="rId10-created" Type="http://schemas.openxmlformats.org/officeDocument/2006/relationships/slideLayout" Target="slideLayouts/slideLayout14.xml"/><Relationship Id="rId11-created" Type="http://schemas.openxmlformats.org/officeDocument/2006/relationships/slideLayout" Target="slideLayouts/slideLayout15.xml"/><Relationship Id="rId12-created" Type="http://schemas.openxmlformats.org/officeDocument/2006/relationships/slideLayout" Target="slideLayouts/slideLayout16.xml"/><Relationship Id="rId13-created" Type="http://schemas.openxmlformats.org/officeDocument/2006/relationships/slideLayout" Target="slideLayouts/slideLayout17.xml"/><Relationship Id="rId14-created" Type="http://schemas.openxmlformats.org/officeDocument/2006/relationships/slideLayout" Target="slideLayouts/slideLayout18.xml"/><Relationship Id="rId15-created" Type="http://schemas.openxmlformats.org/officeDocument/2006/relationships/slideLayout" Target="slideLayouts/slideLayout19.xml"/><Relationship Id="rId16-created" Type="http://schemas.openxmlformats.org/officeDocument/2006/relationships/slideLayout" Target="slideLayouts/slideLayout20.xml"/><Relationship Id="rId17-created" Type="http://schemas.openxmlformats.org/officeDocument/2006/relationships/slideLayout" Target="slideLayouts/slideLayout21.xml"/><Relationship Id="rId18-created" Type="http://schemas.openxmlformats.org/officeDocument/2006/relationships/slideLayout" Target="slideLayouts/slideLayout22.xml"/><Relationship Id="rId19-created" Type="http://schemas.openxmlformats.org/officeDocument/2006/relationships/slideMaster" Target="slideMasters/slideMaster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-created-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특허출원</c:v>
                </c:pt>
              </c:strCache>
            </c:strRef>
          </c:tx>
          <c:spPr>
            <a:ln w="31750">
              <a:solidFill>
                <a:srgbClr val="3A7BD5"/>
              </a:solidFill>
            </a:ln>
          </c:spPr>
          <c:marker>
            <c:symbol val="circle"/>
            <c:size val="8"/>
            <c:spPr>
              <a:solidFill>
                <a:srgbClr val="3A7BD5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72</c:v>
                </c:pt>
                <c:pt idx="4">
                  <c:v>65</c:v>
                </c:pt>
                <c:pt idx="5">
                  <c:v>60</c:v>
                </c:pt>
                <c:pt idx="6">
                  <c:v>58</c:v>
                </c:pt>
                <c:pt idx="7">
                  <c:v>55</c:v>
                </c:pt>
                <c:pt idx="8">
                  <c:v>48</c:v>
                </c:pt>
                <c:pt idx="9">
                  <c:v>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dPt>
            <c:idx val="0"/>
            <c:spPr>
              <a:solidFill>
                <a:srgbClr val="3A7BD5"/>
              </a:solidFill>
            </c:spPr>
          </c:dPt>
          <c:dPt>
            <c:idx val="1"/>
            <c:spPr>
              <a:solidFill>
                <a:srgbClr val="E8734A"/>
              </a:solidFill>
            </c:spPr>
          </c:dPt>
          <c:dPt>
            <c:idx val="2"/>
            <c:spPr>
              <a:solidFill>
                <a:srgbClr val="5CB85C"/>
              </a:solidFill>
            </c:spPr>
          </c:dPt>
          <c:dPt>
            <c:idx val="3"/>
            <c:spPr>
              <a:solidFill>
                <a:srgbClr val="F0C040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dPt>
            <c:idx val="6"/>
            <c:spPr>
              <a:solidFill>
                <a:srgbClr val="999999"/>
              </a:solidFill>
            </c:spPr>
          </c:dPt>
          <c:cat>
            <c:strRef>
              <c:f>Sheet1!$A$2:$A$8</c:f>
              <c:strCache>
                <c:ptCount val="7"/>
                <c:pt idx="0">
                  <c:v>C22C</c:v>
                </c:pt>
                <c:pt idx="1">
                  <c:v>H01F</c:v>
                </c:pt>
                <c:pt idx="2">
                  <c:v>C22F</c:v>
                </c:pt>
                <c:pt idx="3">
                  <c:v>G01N</c:v>
                </c:pt>
                <c:pt idx="4">
                  <c:v>C23C</c:v>
                </c:pt>
                <c:pt idx="5">
                  <c:v>B22F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124</c:v>
                </c:pt>
                <c:pt idx="1">
                  <c:v>55</c:v>
                </c:pt>
                <c:pt idx="2">
                  <c:v>54</c:v>
                </c:pt>
                <c:pt idx="3">
                  <c:v>54</c:v>
                </c:pt>
                <c:pt idx="4">
                  <c:v>40</c:v>
                </c:pt>
                <c:pt idx="5">
                  <c:v>35</c:v>
                </c:pt>
                <c:pt idx="6">
                  <c:v>204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기술이전 건수</c:v>
                </c:pt>
              </c:strCache>
            </c:strRef>
          </c:tx>
          <c:spPr>
            <a:solidFill>
              <a:srgbClr val="4A8BC2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58</c:v>
                </c:pt>
                <c:pt idx="1">
                  <c:v>125</c:v>
                </c:pt>
                <c:pt idx="2">
                  <c:v>78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  <c:pt idx="6">
                  <c:v>88</c:v>
                </c:pt>
                <c:pt idx="7">
                  <c:v>75</c:v>
                </c:pt>
                <c:pt idx="8">
                  <c:v>82</c:v>
                </c:pt>
                <c:pt idx="9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기술료(백만원)</c:v>
                </c:pt>
              </c:strCache>
            </c:strRef>
          </c:tx>
          <c:spPr>
            <a:solidFill>
              <a:srgbClr val="D4A843"/>
            </a:solidFill>
          </c:spPr>
          <c:cat>
            <c:strRef>
              <c:f>Sheet1!$A$2:$A$11</c:f>
              <c:strCache>
                <c:ptCount val="10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320</c:v>
                </c:pt>
                <c:pt idx="1">
                  <c:v>980</c:v>
                </c:pt>
                <c:pt idx="2">
                  <c:v>450</c:v>
                </c:pt>
                <c:pt idx="3">
                  <c:v>520</c:v>
                </c:pt>
                <c:pt idx="4">
                  <c:v>680</c:v>
                </c:pt>
                <c:pt idx="5">
                  <c:v>510</c:v>
                </c:pt>
                <c:pt idx="6">
                  <c:v>620</c:v>
                </c:pt>
                <c:pt idx="7">
                  <c:v>480</c:v>
                </c:pt>
                <c:pt idx="8">
                  <c:v>550</c:v>
                </c:pt>
                <c:pt idx="9">
                  <c:v>420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1"/>
          <c:tx>
            <c:strRef>
              <c:f>Sheet1!$B$1</c:f>
              <c:strCache>
                <c:ptCount val="1"/>
                <c:pt idx="0">
                  <c:v>특허출원</c:v>
                </c:pt>
              </c:strCache>
            </c:strRef>
          </c:tx>
          <c:spPr>
            <a:ln w="31750">
              <a:solidFill>
                <a:srgbClr val="3A7BD5"/>
              </a:solidFill>
            </a:ln>
          </c:spPr>
          <c:marker>
            <c:symbol val="circle"/>
            <c:size val="8"/>
            <c:spPr>
              <a:solidFill>
                <a:srgbClr val="3A7BD5"/>
              </a:solidFill>
            </c:spPr>
          </c:marker>
          <c:dLbls>
            <c:numFmt formatCode="0" sourceLinked="0"/>
            <c:txPr>
              <a:bodyPr/>
              <a:lstStyle/>
              <a:p>
                <a:pPr>
                  <a:defRPr sz="800">
                    <a:solidFill>
                      <a:srgbClr val="333333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45</c:v>
                </c:pt>
                <c:pt idx="1">
                  <c:v>52</c:v>
                </c:pt>
                <c:pt idx="2">
                  <c:v>68</c:v>
                </c:pt>
                <c:pt idx="3">
                  <c:v>72</c:v>
                </c:pt>
                <c:pt idx="4">
                  <c:v>65</c:v>
                </c:pt>
                <c:pt idx="5">
                  <c:v>60</c:v>
                </c:pt>
                <c:pt idx="6">
                  <c:v>58</c:v>
                </c:pt>
                <c:pt idx="7">
                  <c:v>55</c:v>
                </c:pt>
                <c:pt idx="8">
                  <c:v>48</c:v>
                </c:pt>
                <c:pt idx="9">
                  <c:v>43</c:v>
                </c:pt>
                <c:pt idx="10">
                  <c:v>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1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dPt>
            <c:idx val="0"/>
            <c:spPr>
              <a:solidFill>
                <a:srgbClr val="3A7BD5"/>
              </a:solidFill>
            </c:spPr>
          </c:dPt>
          <c:dPt>
            <c:idx val="1"/>
            <c:spPr>
              <a:solidFill>
                <a:srgbClr val="E8734A"/>
              </a:solidFill>
            </c:spPr>
          </c:dPt>
          <c:dPt>
            <c:idx val="2"/>
            <c:spPr>
              <a:solidFill>
                <a:srgbClr val="5CB85C"/>
              </a:solidFill>
            </c:spPr>
          </c:dPt>
          <c:dPt>
            <c:idx val="3"/>
            <c:spPr>
              <a:solidFill>
                <a:srgbClr val="F0C040"/>
              </a:solidFill>
            </c:spPr>
          </c:dPt>
          <c:dPt>
            <c:idx val="4"/>
            <c:spPr>
              <a:solidFill>
                <a:srgbClr val="9B59B6"/>
              </a:solidFill>
            </c:spPr>
          </c:dPt>
          <c:dPt>
            <c:idx val="5"/>
            <c:spPr>
              <a:solidFill>
                <a:srgbClr val="1ABC9C"/>
              </a:solidFill>
            </c:spPr>
          </c:dPt>
          <c:dPt>
            <c:idx val="6"/>
            <c:spPr>
              <a:solidFill>
                <a:srgbClr val="999999"/>
              </a:solidFill>
            </c:spPr>
          </c:dPt>
          <c:cat>
            <c:strRef>
              <c:f>Sheet1!$A$2:$A$8</c:f>
              <c:strCache>
                <c:ptCount val="7"/>
                <c:pt idx="0">
                  <c:v>C22C</c:v>
                </c:pt>
                <c:pt idx="1">
                  <c:v>H01F</c:v>
                </c:pt>
                <c:pt idx="2">
                  <c:v>C22F</c:v>
                </c:pt>
                <c:pt idx="3">
                  <c:v>G01N</c:v>
                </c:pt>
                <c:pt idx="4">
                  <c:v>C23C</c:v>
                </c:pt>
                <c:pt idx="5">
                  <c:v>B22F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138</c:v>
                </c:pt>
                <c:pt idx="1">
                  <c:v>61</c:v>
                </c:pt>
                <c:pt idx="2">
                  <c:v>58</c:v>
                </c:pt>
                <c:pt idx="3">
                  <c:v>57</c:v>
                </c:pt>
                <c:pt idx="4">
                  <c:v>44</c:v>
                </c:pt>
                <c:pt idx="5">
                  <c:v>38</c:v>
                </c:pt>
                <c:pt idx="6">
                  <c:v>216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1"/>
          <c:tx>
            <c:strRef>
              <c:f>Sheet1!$B$1</c:f>
              <c:strCache>
                <c:ptCount val="1"/>
                <c:pt idx="0">
                  <c:v>기술이전 건수</c:v>
                </c:pt>
              </c:strCache>
            </c:strRef>
          </c:tx>
          <c:spPr>
            <a:solidFill>
              <a:srgbClr val="4A8BC2"/>
            </a:solidFill>
          </c:spP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58</c:v>
                </c:pt>
                <c:pt idx="1">
                  <c:v>125</c:v>
                </c:pt>
                <c:pt idx="2">
                  <c:v>78</c:v>
                </c:pt>
                <c:pt idx="3">
                  <c:v>85</c:v>
                </c:pt>
                <c:pt idx="4">
                  <c:v>95</c:v>
                </c:pt>
                <c:pt idx="5">
                  <c:v>80</c:v>
                </c:pt>
                <c:pt idx="6">
                  <c:v>88</c:v>
                </c:pt>
                <c:pt idx="7">
                  <c:v>75</c:v>
                </c:pt>
                <c:pt idx="8">
                  <c:v>82</c:v>
                </c:pt>
                <c:pt idx="9">
                  <c:v>70</c:v>
                </c:pt>
                <c:pt idx="10">
                  <c:v>76</c:v>
                </c:pt>
              </c:numCache>
            </c:numRef>
          </c:val>
        </c:ser>
        <c:ser>
          <c:idx val="1"/>
          <c:order val="2"/>
          <c:tx>
            <c:strRef>
              <c:f>Sheet1!$C$1</c:f>
              <c:strCache>
                <c:ptCount val="1"/>
                <c:pt idx="0">
                  <c:v>기술료(백만원)</c:v>
                </c:pt>
              </c:strCache>
            </c:strRef>
          </c:tx>
          <c:spPr>
            <a:solidFill>
              <a:srgbClr val="D4A843"/>
            </a:solidFill>
          </c:spPr>
          <c:cat>
            <c:strRef>
              <c:f>Sheet1!$A$2:$A$12</c:f>
              <c:strCache>
                <c:ptCount val="11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320</c:v>
                </c:pt>
                <c:pt idx="1">
                  <c:v>980</c:v>
                </c:pt>
                <c:pt idx="2">
                  <c:v>450</c:v>
                </c:pt>
                <c:pt idx="3">
                  <c:v>520</c:v>
                </c:pt>
                <c:pt idx="4">
                  <c:v>680</c:v>
                </c:pt>
                <c:pt idx="5">
                  <c:v>510</c:v>
                </c:pt>
                <c:pt idx="6">
                  <c:v>620</c:v>
                </c:pt>
                <c:pt idx="7">
                  <c:v>480</c:v>
                </c:pt>
                <c:pt idx="8">
                  <c:v>550</c:v>
                </c:pt>
                <c:pt idx="9">
                  <c:v>420</c:v>
                </c:pt>
                <c:pt idx="10">
                  <c:v>460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66666"/>
                </a:solidFill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66666"/>
                </a:solidFill>
                <a:latin typeface="맑은 고딕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-created" Type="http://schemas.openxmlformats.org/officeDocument/2006/relationships/chart" Target="../charts/chart1.xml"/><Relationship Id="rId6-created" Type="http://schemas.openxmlformats.org/officeDocument/2006/relationships/chart" Target="../charts/chart2.xml"/><Relationship Id="rId7-created" Type="http://schemas.openxmlformats.org/officeDocument/2006/relationships/chart" Target="../charts/chart3.xml"/><Relationship Id="rId8-created" Type="http://schemas.openxmlformats.org/officeDocument/2006/relationships/chart" Target="../charts/chart4.xml"/><Relationship Id="rId9-created" Type="http://schemas.openxmlformats.org/officeDocument/2006/relationships/chart" Target="../charts/chart5.xml"/><Relationship Id="rId10-created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5A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재료연 보유기술 현황과 사업화 과제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300" b="0">
                <a:solidFill>
                  <a:srgbClr val="C5A55A"/>
                </a:solidFill>
                <a:latin typeface="맑은 고딕"/>
              </a:defRPr>
            </a:pPr>
            <a:r>
              <a:t>2015~2025 특허출원 및 기술이전 실적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182880"/>
            <a:ext cx="1645920" cy="6400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2400" b="1">
                <a:solidFill>
                  <a:srgbClr val="C5A55A"/>
                </a:solidFill>
                <a:latin typeface="Arial"/>
              </a:defRPr>
            </a:pPr>
            <a:r>
              <a:t>KIMS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41148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연도별 특허출원 동향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234440"/>
            <a:ext cx="1097280" cy="32004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234440"/>
            <a:ext cx="109728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총 612건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1691640"/>
          <a:ext cx="5120640" cy="2606040"/>
        </p:xfrm>
        <a:graphic>
          <a:graphicData uri="http://schemas.openxmlformats.org/drawingml/2006/chart">
            <c:chart xmlns:c="http://schemas.openxmlformats.org/drawingml/2006/chart" r:id="rId8-created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657600" y="1783080"/>
            <a:ext cx="1737360" cy="347472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87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1737360" cy="34747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1">
                <a:solidFill>
                  <a:srgbClr val="E8734A"/>
                </a:solidFill>
                <a:latin typeface="맑은 고딕"/>
              </a:defRPr>
            </a:pPr>
            <a:r>
              <a:t>2025년 반등 추세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50292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IPC 기술분야별 특허분포 (612건)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17920" y="1691640"/>
          <a:ext cx="2926080" cy="2606040"/>
        </p:xfrm>
        <a:graphic>
          <a:graphicData uri="http://schemas.openxmlformats.org/drawingml/2006/chart">
            <c:chart xmlns:c="http://schemas.openxmlformats.org/drawingml/2006/chart" r:id="rId9-created"/>
          </a:graphicData>
        </a:graphic>
      </p:graphicFrame>
      <p:sp>
        <p:nvSpPr>
          <p:cNvPr id="15" name="Rectangle 14"/>
          <p:cNvSpPr/>
          <p:nvPr/>
        </p:nvSpPr>
        <p:spPr>
          <a:xfrm>
            <a:off x="9418320" y="1828800"/>
            <a:ext cx="201168" cy="201168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1810512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C22C (124건)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157984"/>
            <a:ext cx="201168" cy="201168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2139696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H01F (55건)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2487168"/>
            <a:ext cx="201168" cy="201168"/>
          </a:xfrm>
          <a:prstGeom prst="rect">
            <a:avLst/>
          </a:prstGeom>
          <a:solidFill>
            <a:srgbClr val="5CB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10928" y="2468880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C22F (54건)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18320" y="2816352"/>
            <a:ext cx="201168" cy="201168"/>
          </a:xfrm>
          <a:prstGeom prst="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10928" y="2798064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G01N (54건)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18320" y="3145536"/>
            <a:ext cx="201168" cy="2011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0928" y="3127248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C23C (40건)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18320" y="3474719"/>
            <a:ext cx="201168" cy="20116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10928" y="3456431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B22F (35건)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3803904"/>
            <a:ext cx="201168" cy="20116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10928" y="3785616"/>
            <a:ext cx="2011680" cy="256032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333333"/>
                </a:solidFill>
                <a:latin typeface="맑은 고딕"/>
              </a:defRPr>
            </a:pPr>
            <a:r>
              <a:t>기타 (204건)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434840"/>
            <a:ext cx="11247120" cy="127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572000"/>
            <a:ext cx="5029200" cy="41148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500" b="1">
                <a:solidFill>
                  <a:srgbClr val="1B2A4A"/>
                </a:solidFill>
                <a:latin typeface="맑은 고딕"/>
              </a:defRPr>
            </a:pPr>
            <a:r>
              <a:t>연도별 기술이전 건수 및 기술료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663440"/>
            <a:ext cx="274320" cy="182880"/>
          </a:xfrm>
          <a:prstGeom prst="rect">
            <a:avLst/>
          </a:prstGeom>
          <a:solidFill>
            <a:srgbClr val="4A8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4617720"/>
            <a:ext cx="1280160" cy="27432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기술이전 건수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663440"/>
            <a:ext cx="274320" cy="1828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4617720"/>
            <a:ext cx="1371600" cy="27432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l"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기술료(백만원)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/>
        </p:nvGraphicFramePr>
        <p:xfrm>
          <a:off x="365760" y="5074920"/>
          <a:ext cx="11247120" cy="1508760"/>
        </p:xfrm>
        <a:graphic>
          <a:graphicData uri="http://schemas.openxmlformats.org/drawingml/2006/chart">
            <c:chart xmlns:c="http://schemas.openxmlformats.org/drawingml/2006/chart" r:id="rId10-created"/>
          </a:graphicData>
        </a:graphic>
      </p:graphicFrame>
      <p:sp>
        <p:nvSpPr>
          <p:cNvPr id="36" name="Rounded Rectangle 35"/>
          <p:cNvSpPr/>
          <p:nvPr/>
        </p:nvSpPr>
        <p:spPr>
          <a:xfrm>
            <a:off x="1645920" y="4983480"/>
            <a:ext cx="1463040" cy="292608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45920" y="4983480"/>
            <a:ext cx="1463040" cy="292608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1">
                <a:solidFill>
                  <a:srgbClr val="B8860B"/>
                </a:solidFill>
                <a:latin typeface="맑은 고딕"/>
              </a:defRPr>
            </a:pPr>
            <a:r>
              <a:t>2016년 최고 실적 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537960"/>
            <a:ext cx="11247120" cy="320040"/>
          </a:xfrm>
          <a:prstGeom prst="rect">
            <a:avLst/>
          </a:prstGeom>
          <a:noFill/>
        </p:spPr>
        <p:txBody>
          <a:bodyPr wrap="square" tIns="0" bIns="0" lIns="50800" rIns="50800"/>
          <a:lstStyle/>
          <a:p>
            <a:pPr algn="ctr">
              <a:defRPr sz="1000" b="0">
                <a:solidFill>
                  <a:srgbClr val="C5A55A"/>
                </a:solidFill>
                <a:latin typeface="맑은 고딕"/>
              </a:defRPr>
            </a:pPr>
            <a:r>
              <a:t>한국재료연구원(KIMS)  |  기술사업화 전략 보고서  |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