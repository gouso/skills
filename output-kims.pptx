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solidFill>
              <a:srgbClr val="3A7BD5"/>
            </a:solidFill>
            <a:ln w="31750" cap="flat">
              <a:solidFill>
                <a:srgbClr val="3A7B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7BD5"/>
              </a:solidFill>
              <a:ln w="9525" cap="flat">
                <a:solidFill>
                  <a:srgbClr val="3A7B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33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IPC 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7BD5"/>
              </a:solidFill>
              <a:effectLst/>
            </c:spPr>
          </c:dPt>
          <c:dPt>
            <c:idx val="1"/>
            <c:bubble3D val="0"/>
            <c:spPr>
              <a:solidFill>
                <a:srgbClr val="E8734A"/>
              </a:solidFill>
              <a:effectLst/>
            </c:spPr>
          </c:dPt>
          <c:dPt>
            <c:idx val="2"/>
            <c:bubble3D val="0"/>
            <c:spPr>
              <a:solidFill>
                <a:srgbClr val="5CB85C"/>
              </a:solidFill>
              <a:effectLst/>
            </c:spPr>
          </c:dPt>
          <c:dPt>
            <c:idx val="3"/>
            <c:bubble3D val="0"/>
            <c:spPr>
              <a:solidFill>
                <a:srgbClr val="F0C040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bubble3D val="0"/>
            <c:spPr>
              <a:solidFill>
                <a:srgbClr val="1ABC9C"/>
              </a:solidFill>
              <a:effectLst/>
            </c:spPr>
          </c:dPt>
          <c:dPt>
            <c:idx val="6"/>
            <c:bubble3D val="0"/>
            <c:spPr>
              <a:solidFill>
                <a:srgbClr val="99999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124</c:v>
                </c:pt>
                <c:pt idx="1">
                  <c:v>55</c:v>
                </c:pt>
                <c:pt idx="2">
                  <c:v>54</c:v>
                </c:pt>
                <c:pt idx="3">
                  <c:v>54</c:v>
                </c:pt>
                <c:pt idx="4">
                  <c:v>40</c:v>
                </c:pt>
                <c:pt idx="5">
                  <c:v>35</c:v>
                </c:pt>
                <c:pt idx="6">
                  <c:v>204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재료연 보유기술 현황과 사업화 과제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A5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2015~2024 특허출원 및 기술이전 실적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특허출원 동향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8869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886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566건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1188720"/>
          <a:ext cx="40233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2834640" y="1234440"/>
            <a:ext cx="1417320" cy="320040"/>
          </a:xfrm>
          <a:prstGeom prst="rect">
            <a:avLst>
              <a:gd name="adj" fmla="val 8571"/>
            </a:avLst>
          </a:prstGeom>
          <a:solidFill>
            <a:srgbClr val="FFF3E0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2~3년 감소 추세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547872" y="1554480"/>
            <a:ext cx="0" cy="228600"/>
          </a:xfrm>
          <a:prstGeom prst="line">
            <a:avLst/>
          </a:prstGeom>
          <a:noFill/>
          <a:ln w="19050">
            <a:solidFill>
              <a:srgbClr val="E87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 기술분야별 특허분포 (566건)</a:t>
            </a:r>
            <a:endParaRPr lang="en-US" sz="12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754880" y="1143000"/>
          <a:ext cx="2194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7178040" y="1234440"/>
            <a:ext cx="164592" cy="16459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7" name="Text 13"/>
          <p:cNvSpPr/>
          <p:nvPr/>
        </p:nvSpPr>
        <p:spPr>
          <a:xfrm>
            <a:off x="7406640" y="12161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C22C (124건)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178040" y="1481328"/>
            <a:ext cx="164592" cy="1645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Text 15"/>
          <p:cNvSpPr/>
          <p:nvPr/>
        </p:nvSpPr>
        <p:spPr>
          <a:xfrm>
            <a:off x="7406640" y="1463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H01F (55건)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178040" y="1728216"/>
            <a:ext cx="164592" cy="164592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21" name="Text 17"/>
          <p:cNvSpPr/>
          <p:nvPr/>
        </p:nvSpPr>
        <p:spPr>
          <a:xfrm>
            <a:off x="7406640" y="1709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C22F (54건)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178040" y="1975104"/>
            <a:ext cx="164592" cy="16459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3" name="Text 19"/>
          <p:cNvSpPr/>
          <p:nvPr/>
        </p:nvSpPr>
        <p:spPr>
          <a:xfrm>
            <a:off x="7406640" y="19568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G01N (54건)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7178040" y="2221992"/>
            <a:ext cx="164592" cy="16459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5" name="Text 21"/>
          <p:cNvSpPr/>
          <p:nvPr/>
        </p:nvSpPr>
        <p:spPr>
          <a:xfrm>
            <a:off x="7406640" y="22037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C23C (40건)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178040" y="2468880"/>
            <a:ext cx="164592" cy="16459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3"/>
          <p:cNvSpPr/>
          <p:nvPr/>
        </p:nvSpPr>
        <p:spPr>
          <a:xfrm>
            <a:off x="740664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B22F (35건)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7178040" y="2715768"/>
            <a:ext cx="164592" cy="16459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9" name="Text 25"/>
          <p:cNvSpPr/>
          <p:nvPr/>
        </p:nvSpPr>
        <p:spPr>
          <a:xfrm>
            <a:off x="7406640" y="2697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(204건)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20040" y="3246120"/>
            <a:ext cx="85039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32004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기술이전 건수 및 기술료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29200" y="3383280"/>
            <a:ext cx="228600" cy="137160"/>
          </a:xfrm>
          <a:prstGeom prst="rect">
            <a:avLst/>
          </a:prstGeom>
          <a:solidFill>
            <a:srgbClr val="4A8BC2"/>
          </a:solidFill>
          <a:ln/>
        </p:spPr>
      </p:sp>
      <p:sp>
        <p:nvSpPr>
          <p:cNvPr id="33" name="Text 29"/>
          <p:cNvSpPr/>
          <p:nvPr/>
        </p:nvSpPr>
        <p:spPr>
          <a:xfrm>
            <a:off x="530352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기술이전 건수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492240" y="3383280"/>
            <a:ext cx="22860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기술료(백만원)</a:t>
            </a:r>
            <a:endParaRPr lang="en-US" sz="800" dirty="0"/>
          </a:p>
        </p:txBody>
      </p:sp>
      <p:graphicFrame>
        <p:nvGraphicFramePr>
          <p:cNvPr id="36" name="Chart 2" descr=""/>
          <p:cNvGraphicFramePr/>
          <p:nvPr/>
        </p:nvGraphicFramePr>
        <p:xfrm>
          <a:off x="274320" y="3611880"/>
          <a:ext cx="8503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" name="Shape 32"/>
          <p:cNvSpPr/>
          <p:nvPr/>
        </p:nvSpPr>
        <p:spPr>
          <a:xfrm>
            <a:off x="1188720" y="3611880"/>
            <a:ext cx="1371600" cy="256032"/>
          </a:xfrm>
          <a:prstGeom prst="rect">
            <a:avLst>
              <a:gd name="adj" fmla="val 10714"/>
            </a:avLst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18872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2016년 최고 실적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5"/>
          <p:cNvSpPr/>
          <p:nvPr/>
        </p:nvSpPr>
        <p:spPr>
          <a:xfrm>
            <a:off x="365760" y="48920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A5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한국재료연구원(KIMS) | 기술사업화 전략 보고서 |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재료연 보유기술 현황과 사업화 과제</dc:title>
  <dc:subject>PptxGenJS Presentation</dc:subject>
  <dc:creator>KIMS</dc:creator>
  <cp:lastModifiedBy>KIMS</cp:lastModifiedBy>
  <cp:revision>1</cp:revision>
  <dcterms:created xsi:type="dcterms:W3CDTF">2026-02-14T12:00:02Z</dcterms:created>
  <dcterms:modified xsi:type="dcterms:W3CDTF">2026-02-14T12:00:02Z</dcterms:modified>
</cp:coreProperties>
</file>